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GEOSPECTRUM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48640" y="6510528"/>
            <a:ext cx="1106424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574536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9AD"/>
                </a:solidFill>
              </a:rPr>
              <a:t>资料来源：GeoSpectrum 全菜单功能展示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8001000" y="-548640"/>
            <a:ext cx="4937760" cy="7863840"/>
          </a:xfrm>
          <a:prstGeom prst="rect">
            <a:avLst/>
          </a:prstGeom>
          <a:solidFill>
            <a:srgbClr val="183B62"/>
          </a:solidFill>
          <a:ln w="12700">
            <a:solidFill>
              <a:srgbClr val="183B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961120" y="594360"/>
            <a:ext cx="2103120" cy="2103120"/>
          </a:xfrm>
          <a:prstGeom prst="arc">
            <a:avLst/>
          </a:prstGeom>
          <a:solidFill>
            <a:srgbClr val="48A9E6">
              <a:alpha val="0"/>
            </a:srgbClr>
          </a:solidFill>
          <a:ln w="38100">
            <a:solidFill>
              <a:srgbClr val="48A9E6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9372600" y="1005840"/>
            <a:ext cx="2743200" cy="2743200"/>
          </a:xfrm>
          <a:prstGeom prst="arc">
            <a:avLst/>
          </a:prstGeom>
          <a:solidFill>
            <a:srgbClr val="1F6FEB">
              <a:alpha val="0"/>
            </a:srgbClr>
          </a:solidFill>
          <a:ln w="76200">
            <a:solidFill>
              <a:srgbClr val="1F6FEB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21824" y="16459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50800" dir="16200000">
              <a:srgbClr val="FFFFFF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6583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GEOSPECTRUM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6995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功能概览与核心流程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从分析准备到结果交付，一套软件完成主要工作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401568"/>
            <a:ext cx="1170432" cy="0"/>
          </a:xfrm>
          <a:prstGeom prst="line">
            <a:avLst/>
          </a:prstGeom>
          <a:noFill/>
          <a:ln w="38100">
            <a:solidFill>
              <a:srgbClr val="48A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6850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1A9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简版汇报 · 只讲重点功能与典型场景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6035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1A9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2026.08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平台能做什么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八类功能覆盖分析准备、执行、结果处理和系统管理。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56248" y="1783080"/>
            <a:ext cx="4965192" cy="3090672"/>
          </a:xfrm>
          <a:prstGeom prst="roundRect">
            <a:avLst>
              <a:gd name="adj" fmla="val 207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25400" dist="50800" dir="2700000">
              <a:srgbClr val="9FB1C3">
                <a:alpha val="16000"/>
              </a:srgbClr>
            </a:outerShdw>
          </a:effectLst>
        </p:spPr>
      </p:sp>
      <p:pic>
        <p:nvPicPr>
          <p:cNvPr id="6" name="Image 0" descr="C:/Users/Leo/Desktop/图像处理/_ppt_work/assets/p02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856232"/>
            <a:ext cx="4818888" cy="29443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93992" y="2020824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2263F">
              <a:alpha val="95000"/>
            </a:srgbClr>
          </a:solidFill>
          <a:ln w="12700">
            <a:solidFill>
              <a:srgbClr val="12263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93992" y="207111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工作台示意</a:t>
            </a:r>
            <a:endParaRPr lang="en-US" sz="770" dirty="0"/>
          </a:p>
        </p:txBody>
      </p:sp>
      <p:sp>
        <p:nvSpPr>
          <p:cNvPr id="9" name="Shape 6"/>
          <p:cNvSpPr/>
          <p:nvPr/>
        </p:nvSpPr>
        <p:spPr>
          <a:xfrm>
            <a:off x="603504" y="1865376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9FB1C3">
                <a:alpha val="16000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2011680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70432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70432" y="22037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查看状态和当前任务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3410712" y="1865376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9FB1C3">
                <a:alpha val="1600000000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57016" y="2011680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77640" y="1975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光谱方法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77640" y="220370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建立并管理分析方法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603504" y="262432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9FB1C3">
                <a:alpha val="160000000000000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" y="277063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70432" y="2734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分析条件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70432" y="296265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设置参数和样品队列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3410712" y="2624328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9FB1C3">
                <a:alpha val="1.6e+24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57016" y="2770632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77640" y="2734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分析测试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977640" y="2962656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完成采集、计算和质控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603504" y="3383280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9FB1C3">
                <a:alpha val="1.6e+29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49808" y="3529584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A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70432" y="3493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70432" y="372160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整理结果并生成报告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3410712" y="3383280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9FB1C3">
                <a:alpha val="1.6e+34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557016" y="3529584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A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977640" y="34930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3977640" y="3721608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连接设备、校准和迁移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603504" y="4142232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9FB1C3">
                <a:alpha val="1.6e+39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49808" y="42885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A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70432" y="4251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系统管理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70432" y="448056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设置、备份、用户和权限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3410712" y="4142232"/>
            <a:ext cx="26060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9FB1C3">
                <a:alpha val="1.6e+44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3557016" y="4288536"/>
            <a:ext cx="393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A9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977640" y="4251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3977640" y="448056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查看操作说明和诊断信息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6656832" y="51389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3000" dirty="0"/>
          </a:p>
        </p:txBody>
      </p:sp>
      <p:sp>
        <p:nvSpPr>
          <p:cNvPr id="42" name="Text 39"/>
          <p:cNvSpPr/>
          <p:nvPr/>
        </p:nvSpPr>
        <p:spPr>
          <a:xfrm>
            <a:off x="7470648" y="53400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个功能入口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8686800" y="52486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主要工作集中在同一个平台内完成。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一次分析怎么完成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主要工作可以概括为五个连续步骤。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9464" y="2880360"/>
            <a:ext cx="347472" cy="457200"/>
          </a:xfrm>
          <a:prstGeom prst="chevron">
            <a:avLst/>
          </a:prstGeom>
          <a:solidFill>
            <a:srgbClr val="C7D6E5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1901952" cy="23591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E7F0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9FB1C3">
                <a:alpha val="1.6e+4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95728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选定方法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选择合适的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270248"/>
            <a:ext cx="493776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37176" y="2880360"/>
            <a:ext cx="347472" cy="457200"/>
          </a:xfrm>
          <a:prstGeom prst="chevron">
            <a:avLst/>
          </a:prstGeom>
          <a:solidFill>
            <a:srgbClr val="C7D6E5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07792" y="2194560"/>
            <a:ext cx="1901952" cy="23591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E7F0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9FB1C3">
                <a:alpha val="1.6e+5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90672" y="2395728"/>
            <a:ext cx="411480" cy="411480"/>
          </a:xfrm>
          <a:prstGeom prst="ellipse">
            <a:avLst/>
          </a:prstGeom>
          <a:solidFill>
            <a:srgbClr val="48A9E6"/>
          </a:solidFill>
          <a:ln w="12700">
            <a:solidFill>
              <a:srgbClr val="48A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5146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90672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设置条件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090672" y="349300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确认参数、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样品和校准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90672" y="4270248"/>
            <a:ext cx="493776" cy="0"/>
          </a:xfrm>
          <a:prstGeom prst="line">
            <a:avLst/>
          </a:prstGeom>
          <a:noFill/>
          <a:ln w="31750">
            <a:solidFill>
              <a:srgbClr val="48A9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4888" y="2880360"/>
            <a:ext cx="347472" cy="457200"/>
          </a:xfrm>
          <a:prstGeom prst="chevron">
            <a:avLst/>
          </a:prstGeom>
          <a:solidFill>
            <a:srgbClr val="C7D6E5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2194560"/>
            <a:ext cx="1901952" cy="23591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E7F0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9FB1C3">
                <a:alpha val="1.6e+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58384" y="2395728"/>
            <a:ext cx="411480" cy="411480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25146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58384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开始采集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358384" y="349300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按计划完成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样品采集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58384" y="4270248"/>
            <a:ext cx="493776" cy="0"/>
          </a:xfrm>
          <a:prstGeom prst="line">
            <a:avLst/>
          </a:prstGeom>
          <a:noFill/>
          <a:ln w="31750">
            <a:solidFill>
              <a:srgbClr val="21A17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72600" y="2880360"/>
            <a:ext cx="347472" cy="457200"/>
          </a:xfrm>
          <a:prstGeom prst="chevron">
            <a:avLst/>
          </a:prstGeom>
          <a:solidFill>
            <a:srgbClr val="C7D6E5"/>
          </a:solidFill>
          <a:ln w="12700">
            <a:solidFill>
              <a:srgbClr val="C7D6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2194560"/>
            <a:ext cx="1901952" cy="23591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E7F0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9FB1C3">
                <a:alpha val="1.5999999999999998e+6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26096" y="2395728"/>
            <a:ext cx="411480" cy="411480"/>
          </a:xfrm>
          <a:prstGeom prst="ellipse">
            <a:avLst/>
          </a:prstGeom>
          <a:solidFill>
            <a:srgbClr val="E8A33A"/>
          </a:solidFill>
          <a:ln w="12700">
            <a:solidFill>
              <a:srgbClr val="E8A3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25146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626096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检查质量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26096" y="349300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判断重复性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和结果质量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26096" y="4270248"/>
            <a:ext cx="493776" cy="0"/>
          </a:xfrm>
          <a:prstGeom prst="line">
            <a:avLst/>
          </a:prstGeom>
          <a:noFill/>
          <a:ln w="31750">
            <a:solidFill>
              <a:srgbClr val="E8A3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2194560"/>
            <a:ext cx="1901952" cy="23591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E7F0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9FB1C3">
                <a:alpha val="1.5999999999999997e+6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93808" y="2395728"/>
            <a:ext cx="411480" cy="411480"/>
          </a:xfrm>
          <a:prstGeom prst="ellipse">
            <a:avLst/>
          </a:prstGeom>
          <a:solidFill>
            <a:srgbClr val="7768D8"/>
          </a:solidFill>
          <a:ln w="12700">
            <a:solidFill>
              <a:srgbClr val="7768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93808" y="25146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893808" y="303580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输出结果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893808" y="3493008"/>
            <a:ext cx="1517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计算、导出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并生成报告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893808" y="4270248"/>
            <a:ext cx="493776" cy="0"/>
          </a:xfrm>
          <a:prstGeom prst="line">
            <a:avLst/>
          </a:prstGeom>
          <a:noFill/>
          <a:ln w="31750">
            <a:solidFill>
              <a:srgbClr val="7768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4992624"/>
            <a:ext cx="10917936" cy="676656"/>
          </a:xfrm>
          <a:prstGeom prst="roundRect">
            <a:avLst>
              <a:gd name="adj" fmla="val 10811"/>
            </a:avLst>
          </a:prstGeom>
          <a:solidFill>
            <a:srgbClr val="EAF2FB"/>
          </a:solidFill>
          <a:ln w="10160">
            <a:solidFill>
              <a:srgbClr val="D4E3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51937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贯穿能力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20240" y="5129784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过程有记录  ·  操作有权限  ·  数据可备份  ·  结果可追溯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ACQUISITION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采集过程更清楚、更可控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开始前设好计划，运行中看到状态，遇到异常可以安全停止。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705856" y="1810512"/>
            <a:ext cx="5751576" cy="3575304"/>
          </a:xfrm>
          <a:prstGeom prst="roundRect">
            <a:avLst>
              <a:gd name="adj" fmla="val 179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9FB1C3">
                <a:alpha val="1.5999999999999997e+74"/>
              </a:srgbClr>
            </a:outerShdw>
          </a:effectLst>
        </p:spPr>
      </p:sp>
      <p:pic>
        <p:nvPicPr>
          <p:cNvPr id="6" name="Image 0" descr="C:/Users/Leo/Desktop/图像处理/_ppt_work/assets/p06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883664"/>
            <a:ext cx="5605272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2048256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2263F">
              <a:alpha val="95000"/>
            </a:srgbClr>
          </a:solidFill>
          <a:ln w="12700">
            <a:solidFill>
              <a:srgbClr val="12263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209854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自动转角采集</a:t>
            </a:r>
            <a:endParaRPr lang="en-US" sz="770" dirty="0"/>
          </a:p>
        </p:txBody>
      </p:sp>
      <p:sp>
        <p:nvSpPr>
          <p:cNvPr id="9" name="Shape 6"/>
          <p:cNvSpPr/>
          <p:nvPr/>
        </p:nvSpPr>
        <p:spPr>
          <a:xfrm>
            <a:off x="640080" y="190195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1F6FEB">
              <a:alpha val="13000"/>
            </a:srgbClr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20240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采集重点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2414016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39572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先设好方法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0976" y="2724912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把分析参数和样品信息集中保存，后续可以重复使用。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" y="3465576"/>
            <a:ext cx="164592" cy="164592"/>
          </a:xfrm>
          <a:prstGeom prst="ellipse">
            <a:avLst/>
          </a:prstGeom>
          <a:solidFill>
            <a:srgbClr val="48A9E6"/>
          </a:solidFill>
          <a:ln w="12700">
            <a:solidFill>
              <a:srgbClr val="48A9E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" y="344728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按计划采集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50976" y="3776472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支持样品队列、连续采集和自动转角，减少重复操作。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8368" y="4517136"/>
            <a:ext cx="164592" cy="164592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0976" y="449884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随时看状态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50976" y="4828032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可以启动、暂停、重试和安全停止，过程信息清楚可见。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88152" y="55412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代表场景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748272" y="546811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自动转角任务：提前设定波段、角度、顺序和异常处理方式。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QUALITY &amp; DELIVERY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结果先检查，再计算和交付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质量判断、结果计算、数据导出和报告生成集中完成。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01368"/>
            <a:ext cx="5522976" cy="342900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9FB1C3">
                <a:alpha val="1.5999999999999997e+79"/>
              </a:srgbClr>
            </a:outerShdw>
          </a:effectLst>
        </p:spPr>
      </p:sp>
      <p:pic>
        <p:nvPicPr>
          <p:cNvPr id="6" name="Image 0" descr="C:/Users/Leo/Desktop/图像处理/_ppt_work/assets/p08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874520"/>
            <a:ext cx="5376672" cy="32826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" y="2039112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2263F">
              <a:alpha val="95000"/>
            </a:srgbClr>
          </a:solidFill>
          <a:ln w="12700">
            <a:solidFill>
              <a:srgbClr val="12263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" y="2089404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重复性质控</a:t>
            </a:r>
            <a:endParaRPr lang="en-US" sz="770" dirty="0"/>
          </a:p>
        </p:txBody>
      </p:sp>
      <p:sp>
        <p:nvSpPr>
          <p:cNvPr id="9" name="Shape 6"/>
          <p:cNvSpPr/>
          <p:nvPr/>
        </p:nvSpPr>
        <p:spPr>
          <a:xfrm>
            <a:off x="6446520" y="1874520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FE8F1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9FB1C3">
                <a:alpha val="1.5999999999999996e+84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74520"/>
            <a:ext cx="82296" cy="129844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0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查看重复性，发现偏差和异常结果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8951976" y="1874520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FE8F1"/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9FB1C3">
                <a:alpha val="1.5999999999999997e+8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51976" y="1874520"/>
            <a:ext cx="82296" cy="1298448"/>
          </a:xfrm>
          <a:prstGeom prst="rect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80576" y="21031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结果计算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80576" y="2514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利用标准曲线计算未知样结果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446520" y="3447288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FE8F1"/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9FB1C3">
                <a:alpha val="1.5999999999999997e+9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3447288"/>
            <a:ext cx="82296" cy="1298448"/>
          </a:xfrm>
          <a:prstGeom prst="rect">
            <a:avLst/>
          </a:prstGeom>
          <a:solidFill>
            <a:srgbClr val="E8A33A"/>
          </a:solidFill>
          <a:ln w="12700">
            <a:solidFill>
              <a:srgbClr val="E8A3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36758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数据整理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75120" y="4087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查看、汇总并导出需要的数据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8951976" y="3447288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FE8F1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9FB1C3">
                <a:alpha val="1.5999999999999998e+99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51976" y="3447288"/>
            <a:ext cx="82296" cy="1298448"/>
          </a:xfrm>
          <a:prstGeom prst="rect">
            <a:avLst/>
          </a:prstGeom>
          <a:solidFill>
            <a:srgbClr val="7768D8"/>
          </a:solidFill>
          <a:ln w="12700">
            <a:solidFill>
              <a:srgbClr val="7768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0576" y="36758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生成报告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80576" y="4087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选择模板，预览、打印并保留记录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455664" y="5157216"/>
            <a:ext cx="4782312" cy="612648"/>
          </a:xfrm>
          <a:prstGeom prst="roundRect">
            <a:avLst>
              <a:gd name="adj" fmla="val 11940"/>
            </a:avLst>
          </a:prstGeom>
          <a:solidFill>
            <a:srgbClr val="EAF5F2"/>
          </a:solidFill>
          <a:ln w="10160">
            <a:solidFill>
              <a:srgbClr val="CFE9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56832" y="5367528"/>
            <a:ext cx="758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A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616952" y="529437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先保证质量，再形成最终结果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SUPPORT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三类支撑能力保证系统长期使用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除了完成分析，还要连接设备、承接旧数据并做好日常管理。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063240" cy="3611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9FB1C3">
                <a:alpha val="1.5999999999999997e+104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85416"/>
            <a:ext cx="530352" cy="53035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40864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00200" y="21396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连接设备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5146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支持实际分析工作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969264" y="3200400"/>
            <a:ext cx="109728" cy="1097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连接分析设备并查看实时状态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969264" y="3785616"/>
            <a:ext cx="109728" cy="1097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739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完成光学校准并保存记录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969264" y="4370832"/>
            <a:ext cx="109728" cy="1097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4325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出现异常时安全停止设备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69264" y="4983480"/>
            <a:ext cx="24323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5175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F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保证现场可用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96512" y="1920240"/>
            <a:ext cx="3063240" cy="3611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9FB1C3">
                <a:alpha val="1.5999999999999996e+10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52544" y="2185416"/>
            <a:ext cx="530352" cy="530352"/>
          </a:xfrm>
          <a:prstGeom prst="ellipse">
            <a:avLst/>
          </a:prstGeom>
          <a:solidFill>
            <a:srgbClr val="48A9E6"/>
          </a:solidFill>
          <a:ln w="12700">
            <a:solidFill>
              <a:srgbClr val="48A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2340864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38344" y="21396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承接旧数据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38344" y="25146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保留已有工作成果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407408" y="3200400"/>
            <a:ext cx="109728" cy="109728"/>
          </a:xfrm>
          <a:prstGeom prst="ellipse">
            <a:avLst/>
          </a:prstGeom>
          <a:solidFill>
            <a:srgbClr val="48A9E6"/>
          </a:solidFill>
          <a:ln w="12700">
            <a:solidFill>
              <a:srgbClr val="48A9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迁移旧版分析方法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407408" y="3785616"/>
            <a:ext cx="109728" cy="109728"/>
          </a:xfrm>
          <a:prstGeom prst="ellipse">
            <a:avLst/>
          </a:prstGeom>
          <a:solidFill>
            <a:srgbClr val="48A9E6"/>
          </a:solidFill>
          <a:ln w="12700">
            <a:solidFill>
              <a:srgbClr val="48A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739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迁移历史数据和分析结果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407408" y="4370832"/>
            <a:ext cx="109728" cy="109728"/>
          </a:xfrm>
          <a:prstGeom prst="ellipse">
            <a:avLst/>
          </a:prstGeom>
          <a:solidFill>
            <a:srgbClr val="48A9E6"/>
          </a:solidFill>
          <a:ln w="12700">
            <a:solidFill>
              <a:srgbClr val="48A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325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采用只读方式，保留原始文件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407408" y="4983480"/>
            <a:ext cx="24323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5175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8A9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保证平稳过渡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534656" y="1920240"/>
            <a:ext cx="3063240" cy="36118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9FB1C3">
                <a:alpha val="1.5999999999999998e+11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90688" y="2185416"/>
            <a:ext cx="530352" cy="530352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0688" y="2340864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76488" y="21396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日常管理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476488" y="25146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让使用过程可管可查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845552" y="3200400"/>
            <a:ext cx="109728" cy="10972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01584" y="315468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设置软件并做好备份恢复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845552" y="3785616"/>
            <a:ext cx="109728" cy="10972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01584" y="3739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管理用户、角色和权限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7845552" y="4370832"/>
            <a:ext cx="109728" cy="109728"/>
          </a:xfrm>
          <a:prstGeom prst="ellipse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43251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记录关键操作并提供帮助诊断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7845552" y="4983480"/>
            <a:ext cx="2432304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45552" y="5175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1A1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保证长期维护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1F6F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85039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GeoSpectrum 的核心价值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把光谱分析需要做的事情，集中在一套清楚、可控的软件流程中。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" y="1938528"/>
            <a:ext cx="51023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9FB1C3">
                <a:alpha val="1.5999999999999998e+119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6656" y="1938528"/>
            <a:ext cx="109728" cy="10789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21579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249424" y="214884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从分析准备到报告交付，主要工作连成一条线。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199632" y="1938528"/>
            <a:ext cx="51023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9FB1C3">
                <a:alpha val="1.5999999999999997e+1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938528"/>
            <a:ext cx="109728" cy="1078992"/>
          </a:xfrm>
          <a:prstGeom prst="rect">
            <a:avLst/>
          </a:prstGeom>
          <a:solidFill>
            <a:srgbClr val="48A9E6"/>
          </a:solidFill>
          <a:ln w="12700">
            <a:solidFill>
              <a:srgbClr val="48A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1579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操作可控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0" y="2148840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设备、采集、校准和异常处理都有清楚的状态。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76656" y="3328416"/>
            <a:ext cx="51023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9FB1C3">
                <a:alpha val="1.5999999999999998e+12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6656" y="3328416"/>
            <a:ext cx="109728" cy="1078992"/>
          </a:xfrm>
          <a:prstGeom prst="rect">
            <a:avLst/>
          </a:prstGeom>
          <a:solidFill>
            <a:srgbClr val="21A179"/>
          </a:solidFill>
          <a:ln w="12700">
            <a:solidFill>
              <a:srgbClr val="21A1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3547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249424" y="353872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分析过程、结果报告和关键操作都能留下记录。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199632" y="3328416"/>
            <a:ext cx="510235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9FB1C3">
                <a:alpha val="1.5999999999999998e+13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3328416"/>
            <a:ext cx="109728" cy="1078992"/>
          </a:xfrm>
          <a:prstGeom prst="rect">
            <a:avLst/>
          </a:prstGeom>
          <a:solidFill>
            <a:srgbClr val="7768D8"/>
          </a:solidFill>
          <a:ln w="12700">
            <a:solidFill>
              <a:srgbClr val="776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547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6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数据可延续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772400" y="3538728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678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旧版方法和历史数据可以安全迁移、继续使用。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76656" y="4892040"/>
            <a:ext cx="10625328" cy="822960"/>
          </a:xfrm>
          <a:prstGeom prst="roundRect">
            <a:avLst>
              <a:gd name="adj" fmla="val 8889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9FB1C3">
                <a:alpha val="1.5999999999999998e+13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" y="514807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简单说：分析做得完，过程看得清，结果查得到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56248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99A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GeoSpectrum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GeoSpectrum 功能概览与核心业务链路</dc:title>
  <dc:subject>GeoSpectrum 功能汇报</dc:subject>
  <dc:creator>OpenAI Codex</dc:creator>
  <cp:lastModifiedBy>OpenAI Codex</cp:lastModifiedBy>
  <cp:revision>1</cp:revision>
  <dcterms:created xsi:type="dcterms:W3CDTF">2026-08-28T08:05:39Z</dcterms:created>
  <dcterms:modified xsi:type="dcterms:W3CDTF">2026-08-28T08:05:39Z</dcterms:modified>
</cp:coreProperties>
</file>